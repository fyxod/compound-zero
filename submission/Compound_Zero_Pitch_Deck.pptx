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458cf1b9941f8" /><Relationship Type="http://schemas.openxmlformats.org/officeDocument/2006/relationships/extended-properties" Target="/docProps/app.xml" Id="R0b9393535f3e4115" /><Relationship Type="http://schemas.openxmlformats.org/officeDocument/2006/relationships/officeDocument" Target="/ppt/presentation.xml" Id="Rb6c7296516fa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b733eb72e4bdc"/>
  </p:sldMasterIdLst>
  <p:notesMasterIdLst>
    <p:notesMasterId xmlns:r="http://schemas.openxmlformats.org/officeDocument/2006/relationships" r:id="R883d7ea844a34fbc"/>
  </p:notesMasterIdLst>
  <p:sldIdLst>
    <p:sldId xmlns:r="http://schemas.openxmlformats.org/officeDocument/2006/relationships" id="256" r:id="R597f58785eb64dad"/>
    <p:sldId xmlns:r="http://schemas.openxmlformats.org/officeDocument/2006/relationships" id="257" r:id="Rbdea10884bdc49ac"/>
    <p:sldId xmlns:r="http://schemas.openxmlformats.org/officeDocument/2006/relationships" id="258" r:id="R2ae9e20f83944df4"/>
    <p:sldId xmlns:r="http://schemas.openxmlformats.org/officeDocument/2006/relationships" id="259" r:id="Rf624cb0bc7714379"/>
    <p:sldId xmlns:r="http://schemas.openxmlformats.org/officeDocument/2006/relationships" id="260" r:id="R174fb5381a124fec"/>
    <p:sldId xmlns:r="http://schemas.openxmlformats.org/officeDocument/2006/relationships" id="261" r:id="R4e321a718703405f"/>
    <p:sldId xmlns:r="http://schemas.openxmlformats.org/officeDocument/2006/relationships" id="262" r:id="Rcfa51a2da54c46f3"/>
    <p:sldId xmlns:r="http://schemas.openxmlformats.org/officeDocument/2006/relationships" id="263" r:id="R4804bebe7c5c44db"/>
    <p:sldId xmlns:r="http://schemas.openxmlformats.org/officeDocument/2006/relationships" id="264" r:id="Rd90beef4e57f4f4f"/>
    <p:sldId xmlns:r="http://schemas.openxmlformats.org/officeDocument/2006/relationships" id="265" r:id="Re86571ce546b4d61"/>
    <p:sldId xmlns:r="http://schemas.openxmlformats.org/officeDocument/2006/relationships" id="266" r:id="R5973e74850be446b"/>
    <p:sldId xmlns:r="http://schemas.openxmlformats.org/officeDocument/2006/relationships" id="267" r:id="Ra5cea26a4c6a41b5"/>
    <p:sldId xmlns:r="http://schemas.openxmlformats.org/officeDocument/2006/relationships" id="268" r:id="R3303a3e8b76a4933"/>
    <p:sldId xmlns:r="http://schemas.openxmlformats.org/officeDocument/2006/relationships" id="269" r:id="R18f810b210634faa"/>
    <p:sldId xmlns:r="http://schemas.openxmlformats.org/officeDocument/2006/relationships" id="270" r:id="Ra005684aba5b48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04c59a11e64e65" /><Relationship Type="http://schemas.openxmlformats.org/officeDocument/2006/relationships/slideMaster" Target="/ppt/slideMasters/slideMaster1.xml" Id="Rd57b733eb72e4bdc" /><Relationship Type="http://schemas.openxmlformats.org/officeDocument/2006/relationships/notesMaster" Target="/ppt/notesMasters/notesMaster1.xml" Id="R883d7ea844a34fbc" /><Relationship Type="http://schemas.openxmlformats.org/officeDocument/2006/relationships/presProps" Target="/ppt/presProps.xml" Id="R028d44976b554546" /><Relationship Type="http://schemas.openxmlformats.org/officeDocument/2006/relationships/tableStyles" Target="/ppt/tableStyles.xml" Id="Rfaac618c0ce64764" /><Relationship Type="http://schemas.openxmlformats.org/officeDocument/2006/relationships/slide" Target="/ppt/slides/slide1.xml" Id="R597f58785eb64dad" /><Relationship Type="http://schemas.openxmlformats.org/officeDocument/2006/relationships/slide" Target="/ppt/slides/slide2.xml" Id="Rbdea10884bdc49ac" /><Relationship Type="http://schemas.openxmlformats.org/officeDocument/2006/relationships/slide" Target="/ppt/slides/slide3.xml" Id="R2ae9e20f83944df4" /><Relationship Type="http://schemas.openxmlformats.org/officeDocument/2006/relationships/slide" Target="/ppt/slides/slide4.xml" Id="Rf624cb0bc7714379" /><Relationship Type="http://schemas.openxmlformats.org/officeDocument/2006/relationships/slide" Target="/ppt/slides/slide5.xml" Id="R174fb5381a124fec" /><Relationship Type="http://schemas.openxmlformats.org/officeDocument/2006/relationships/slide" Target="/ppt/slides/slide6.xml" Id="R4e321a718703405f" /><Relationship Type="http://schemas.openxmlformats.org/officeDocument/2006/relationships/slide" Target="/ppt/slides/slide7.xml" Id="Rcfa51a2da54c46f3" /><Relationship Type="http://schemas.openxmlformats.org/officeDocument/2006/relationships/slide" Target="/ppt/slides/slide8.xml" Id="R4804bebe7c5c44db" /><Relationship Type="http://schemas.openxmlformats.org/officeDocument/2006/relationships/slide" Target="/ppt/slides/slide9.xml" Id="Rd90beef4e57f4f4f" /><Relationship Type="http://schemas.openxmlformats.org/officeDocument/2006/relationships/slide" Target="/ppt/slides/slide10.xml" Id="Re86571ce546b4d61" /><Relationship Type="http://schemas.openxmlformats.org/officeDocument/2006/relationships/slide" Target="/ppt/slides/slide11.xml" Id="R5973e74850be446b" /><Relationship Type="http://schemas.openxmlformats.org/officeDocument/2006/relationships/slide" Target="/ppt/slides/slide12.xml" Id="Ra5cea26a4c6a41b5" /><Relationship Type="http://schemas.openxmlformats.org/officeDocument/2006/relationships/slide" Target="/ppt/slides/slide13.xml" Id="R3303a3e8b76a4933" /><Relationship Type="http://schemas.openxmlformats.org/officeDocument/2006/relationships/slide" Target="/ppt/slides/slide14.xml" Id="R18f810b210634faa" /><Relationship Type="http://schemas.openxmlformats.org/officeDocument/2006/relationships/slide" Target="/ppt/slides/slide15.xml" Id="Ra005684aba5b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55095637f74d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2418ea77064d34" /><Relationship Type="http://schemas.openxmlformats.org/officeDocument/2006/relationships/notesMaster" Target="/ppt/notesMasters/notesMaster1.xml" Id="R033e613eb49146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ef9df2a9d14c67" /><Relationship Type="http://schemas.openxmlformats.org/officeDocument/2006/relationships/notesMaster" Target="/ppt/notesMasters/notesMaster1.xml" Id="R60c71fb050c945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16a261ebd4fdc" /><Relationship Type="http://schemas.openxmlformats.org/officeDocument/2006/relationships/notesMaster" Target="/ppt/notesMasters/notesMaster1.xml" Id="R214dbabe7a7a45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862ac419694a61" /><Relationship Type="http://schemas.openxmlformats.org/officeDocument/2006/relationships/notesMaster" Target="/ppt/notesMasters/notesMaster1.xml" Id="Rcfda36d5f141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8df1f73bfc42d2" /><Relationship Type="http://schemas.openxmlformats.org/officeDocument/2006/relationships/notesMaster" Target="/ppt/notesMasters/notesMaster1.xml" Id="R41870d69f1bf45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16d145d614c3c" /><Relationship Type="http://schemas.openxmlformats.org/officeDocument/2006/relationships/notesMaster" Target="/ppt/notesMasters/notesMaster1.xml" Id="R5b71ca71f29f4f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5756f052f3410e" /><Relationship Type="http://schemas.openxmlformats.org/officeDocument/2006/relationships/notesMaster" Target="/ppt/notesMasters/notesMaster1.xml" Id="R4971c3690ee747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5298245dc40c2" /><Relationship Type="http://schemas.openxmlformats.org/officeDocument/2006/relationships/notesMaster" Target="/ppt/notesMasters/notesMaster1.xml" Id="Re675a581e39d45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488b4cdb0e4e77" /><Relationship Type="http://schemas.openxmlformats.org/officeDocument/2006/relationships/notesMaster" Target="/ppt/notesMasters/notesMaster1.xml" Id="Rbe16b955159a41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903392975148b3" /><Relationship Type="http://schemas.openxmlformats.org/officeDocument/2006/relationships/notesMaster" Target="/ppt/notesMasters/notesMaster1.xml" Id="R0c920dff172843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80f9dff3644721" /><Relationship Type="http://schemas.openxmlformats.org/officeDocument/2006/relationships/notesMaster" Target="/ppt/notesMasters/notesMaster1.xml" Id="R1a8597e3233047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b49f150a424d6f" /><Relationship Type="http://schemas.openxmlformats.org/officeDocument/2006/relationships/notesMaster" Target="/ppt/notesMasters/notesMaster1.xml" Id="Raa43246ef8d940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dd0ed5dfc34e98" /><Relationship Type="http://schemas.openxmlformats.org/officeDocument/2006/relationships/notesMaster" Target="/ppt/notesMasters/notesMaster1.xml" Id="R6f8281851e68426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f80e76f14b4e04" /><Relationship Type="http://schemas.openxmlformats.org/officeDocument/2006/relationships/notesMaster" Target="/ppt/notesMasters/notesMaster1.xml" Id="Rff73c55863444a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a7be349a9f47b9" /><Relationship Type="http://schemas.openxmlformats.org/officeDocument/2006/relationships/notesMaster" Target="/ppt/notesMasters/notesMaster1.xml" Id="Raaa3d6e28c19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1a48e91124a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d5b196204f4135" /><Relationship Type="http://schemas.openxmlformats.org/officeDocument/2006/relationships/slideLayout" Target="/ppt/slideLayouts/slideLayout1.xml" Id="R8d104d80221642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104d80221642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66bfc1ae848f1" /><Relationship Type="http://schemas.openxmlformats.org/officeDocument/2006/relationships/image" Target="/ppt/media/image.jpeg" Id="R5cd07a408037437b" /><Relationship Type="http://schemas.openxmlformats.org/officeDocument/2006/relationships/notesSlide" Target="/ppt/notesSlides/notesSlide1.xml" Id="R066317a27ded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3b860a9264026" /><Relationship Type="http://schemas.openxmlformats.org/officeDocument/2006/relationships/notesSlide" Target="/ppt/notesSlides/notesSlide2.xml" Id="R26d618c53ac14f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0fbc850f24ccc" /><Relationship Type="http://schemas.openxmlformats.org/officeDocument/2006/relationships/notesSlide" Target="/ppt/notesSlides/notesSlide3.xml" Id="Rb0a33530031a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edfedfb3d4a54" /><Relationship Type="http://schemas.openxmlformats.org/officeDocument/2006/relationships/image" Target="/ppt/media/image2.jpeg" Id="R6535294abcb247a6" /><Relationship Type="http://schemas.openxmlformats.org/officeDocument/2006/relationships/image" Target="/ppt/media/image3.jpeg" Id="R6665556aec1c4c6b" /><Relationship Type="http://schemas.openxmlformats.org/officeDocument/2006/relationships/image" Target="/ppt/media/image4.jpeg" Id="R67a3002ae6b947d0" /><Relationship Type="http://schemas.openxmlformats.org/officeDocument/2006/relationships/image" Target="/ppt/media/image5.jpeg" Id="Rb8ca32098f084a50" /><Relationship Type="http://schemas.openxmlformats.org/officeDocument/2006/relationships/image" Target="/ppt/media/image6.jpeg" Id="R07d74baff3f14b5d" /><Relationship Type="http://schemas.openxmlformats.org/officeDocument/2006/relationships/notesSlide" Target="/ppt/notesSlides/notesSlide4.xml" Id="R16ea9ee503fa47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67d4f9fee47b2" /><Relationship Type="http://schemas.openxmlformats.org/officeDocument/2006/relationships/image" Target="/ppt/media/image7.jpeg" Id="R23a14cb26f9f4cff" /><Relationship Type="http://schemas.openxmlformats.org/officeDocument/2006/relationships/notesSlide" Target="/ppt/notesSlides/notesSlide5.xml" Id="R90200d31019445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310d73cf74099" /><Relationship Type="http://schemas.openxmlformats.org/officeDocument/2006/relationships/image" Target="/ppt/media/image8.jpeg" Id="R40935bff5bff461f" /><Relationship Type="http://schemas.openxmlformats.org/officeDocument/2006/relationships/notesSlide" Target="/ppt/notesSlides/notesSlide6.xml" Id="R85e4bc9bdc5f41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1008ed30b4e45" /><Relationship Type="http://schemas.openxmlformats.org/officeDocument/2006/relationships/image" Target="/ppt/media/image9.jpeg" Id="Rbedfc8af3a414bef" /><Relationship Type="http://schemas.openxmlformats.org/officeDocument/2006/relationships/notesSlide" Target="/ppt/notesSlides/notesSlide7.xml" Id="Rbd2e140748ac4d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8881f3c704a4c" /><Relationship Type="http://schemas.openxmlformats.org/officeDocument/2006/relationships/image" Target="/ppt/media/image10.jpeg" Id="R250aba35de4e43a0" /><Relationship Type="http://schemas.openxmlformats.org/officeDocument/2006/relationships/image" Target="/ppt/media/image11.jpeg" Id="R9b4e97c30c4d4def" /><Relationship Type="http://schemas.openxmlformats.org/officeDocument/2006/relationships/notesSlide" Target="/ppt/notesSlides/notesSlide8.xml" Id="Rc0d773bb6e174d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b8465eddf41a5" /><Relationship Type="http://schemas.openxmlformats.org/officeDocument/2006/relationships/notesSlide" Target="/ppt/notesSlides/notesSlide9.xml" Id="R920d3071a03e44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72504900d4e84" /><Relationship Type="http://schemas.openxmlformats.org/officeDocument/2006/relationships/notesSlide" Target="/ppt/notesSlides/notesSlide10.xml" Id="Rb5c820dd0b9643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3026938bf4625" /><Relationship Type="http://schemas.openxmlformats.org/officeDocument/2006/relationships/notesSlide" Target="/ppt/notesSlides/notesSlide11.xml" Id="Re2b982f6389544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0fe31a4944e46" /><Relationship Type="http://schemas.openxmlformats.org/officeDocument/2006/relationships/notesSlide" Target="/ppt/notesSlides/notesSlide12.xml" Id="Rf032ba581c1541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bb016b24435d" /><Relationship Type="http://schemas.openxmlformats.org/officeDocument/2006/relationships/notesSlide" Target="/ppt/notesSlides/notesSlide13.xml" Id="R71e3d90f369a42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3e99331a24397" /><Relationship Type="http://schemas.openxmlformats.org/officeDocument/2006/relationships/notesSlide" Target="/ppt/notesSlides/notesSlide14.xml" Id="R783da5457ae647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147803a36414b" /><Relationship Type="http://schemas.openxmlformats.org/officeDocument/2006/relationships/image" Target="/ppt/media/image12.jpeg" Id="Ra1f8a5dd2d3b4943" /><Relationship Type="http://schemas.openxmlformats.org/officeDocument/2006/relationships/notesSlide" Target="/ppt/notesSlides/notesSlide15.xml" Id="R54cac11033874e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169BE-C3F8-472F-A434-5990822F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6C5C8-BFF3-4AAD-B937-221FA91F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04850"/>
            <a:ext cx="731520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07a408037437b"/>
          <a:srcRect xmlns:a="http://schemas.openxmlformats.org/drawingml/2006/main" l="31" t="0" r="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4375" y="742950"/>
            <a:ext cx="7239000" cy="4076700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97DFA-B0C4-4C71-ACAA-0850E0F0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C0C"/>
              </a:gs>
              <a:gs pos="70000">
                <a:srgbClr val="080C0C">
                  <a:alpha val="96000"/>
                </a:srgbClr>
              </a:gs>
              <a:gs pos="100000">
                <a:srgbClr val="080C0C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96E87-24A6-4E1C-961E-45E8B9D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247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C4BC2-B717-491F-B23C-4D934F1C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ET AI HACKATHON 2026 · PS1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6D6CF-22B9-4508-A902-57E47D06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AI-POWERED INDUSTRIAL SAFETY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0764B-D50B-488A-99C3-2A9B62F6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191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Every alarm is clear.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system is not safe.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7A9D8-C1C5-4CD5-B8D8-2BB052B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Compound Zero connects process trends, barrier state, permits and worker exposure—before any one device crosses its threshold.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A5D6A-63BB-4C44-B589-DE6992DD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5F">
              <a:alpha val="12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A0C4B-7876-4842-972A-82EE86FC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RISK 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4CC74-7EA4-4CE4-A500-0C78CAA1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7675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10000"/>
            </a:srgbClr>
          </a:solidFill>
          <a:ln xmlns:a="http://schemas.openxmlformats.org/drawingml/2006/main" w="9525">
            <a:solidFill>
              <a:srgbClr val="F1D06F">
                <a:alpha val="35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E7BC3-4866-42EE-88C6-8A53FC8E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228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4 MIN REMAIN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BF0E6-C02B-49C2-BA0C-0DB4D542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476750"/>
            <a:ext cx="1600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8B132-A9BD-4BB5-9B4B-DE6E6987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76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 DEVICE ALARMS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4568E-03CA-4236-8F51-4E211AFA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E9C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8E9C2"/>
                </a:solidFill>
                <a:latin typeface="Aptos"/>
                <a:ea typeface="Aptos"/>
                <a:cs typeface="Aptos"/>
              </a:rPr>
              <a:t>See the accident before the alarm.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BCB64-58A2-44FC-8191-DC84D83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SIMULATED REPLAY · SEED 24001 · NOT FIELD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BA447-54F7-49C2-B1BF-8C5D9C36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github.com/Fyxod/compound-zero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2110F-C26F-477D-A19B-20AEA755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7760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841411F-9B76-452C-AF49-56D78721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7E12C-4CEC-4871-B012-16AF2CD8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WHY PS1 / WHY THIS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474A5-1D88-4115-BF0E-6B553654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Built for the two heaviest judging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C91CA-74F9-4D05-AB5D-37D73316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 high-stakes, visually legible problem where technical proof and business impact reinforce each 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C22FB-575E-4824-B7AA-C6D0CD01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42925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D90DE-DC19-4492-A350-73570070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THE BLIND SPOT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52AA-5AE4-44F7-8D1E-28BDABD7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data exists.</a:t>
            </a:r>
          </a:p>
          <a:p xmlns:a="http://schemas.openxmlformats.org/drawingml/2006/main">
            <a:pPr algn="l">
              <a:defRPr sz="25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context does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6219C-ECA6-4FCB-85D5-D212183E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17C">
              <a:alpha val="10000"/>
            </a:srgbClr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3011D-3C8C-4512-B4C8-79383C9B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rPr>
              <a:t>SCADA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833B4-D648-4C78-9EFC-1852A779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00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8518E-E515-413B-AC61-D04F7A07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147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process levels + slopes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1BED6-448C-4670-8921-B478068D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17C">
              <a:alpha val="10000"/>
            </a:srgbClr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A0B6B-566A-4291-A906-C4A785F5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rPr>
              <a:t>CMMS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A1E6A-52BF-4EF1-9C91-7345680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8100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7D5A3-6233-47C3-8BE4-10F945D0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242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barrier impairment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5284C-F8B4-4D23-8DC1-56DCA12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17C">
              <a:alpha val="10000"/>
            </a:srgbClr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3013E-D5F7-44F8-9B79-20314184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rPr>
              <a:t>PTW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EBA71-F3A3-41B0-BC31-A22E3887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1957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76803-DFCB-4AC1-8E79-EDD39D60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338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ignition + SIMOPS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54B20-B318-439C-AC01-7EFF2C3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17C">
              <a:alpha val="10000"/>
            </a:srgbClr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AA973-8DE8-4F88-9CD5-44C55051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rPr>
              <a:t>CCTV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2FEF2-307F-4635-954B-0E4AACFC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291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31567-4FA1-4920-85D3-E0D7242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anonymous events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C10BE-2310-4E41-88C1-9F5742CF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817C">
              <a:alpha val="10000"/>
            </a:srgbClr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0FA394-8934-4C13-B878-2117E959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DC9C5"/>
                </a:solidFill>
                <a:latin typeface="Aptos Mono"/>
                <a:ea typeface="Aptos Mono"/>
                <a:cs typeface="Aptos Mono"/>
              </a:rPr>
              <a:t>SHIFT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F5148F-25D3-4A08-A13A-FE293A5C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387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15F7B-BEC6-4789-A041-87188A35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530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handover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194E4C-1DAE-49E4-80E7-393BEBE6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520065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BF2AE-4953-4236-B2E4-26CBC56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24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JUDGING FIT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F14D3-4021-416D-BC4B-8778F0D4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A089BE-718F-47EC-BD92-DE5C003B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43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25%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98B91-AC8C-46D4-96B5-635C07D4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032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3D968D-117D-4C0D-B52A-5F42FE3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032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FE14FB-723E-461B-AF8D-8D014B6F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compound intersections, not another chatbot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6D336-C038-4EF6-A8D4-DAA08135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Business impact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BFFBD-9D86-4194-9724-56355EA6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337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25%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73FC80-282B-4056-BA46-41F5732E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8DD2E3-6A00-4461-BB5B-2762040E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06268-F020-4CE7-993F-34B75A2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early review + lower nuisance burden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F2229A-F8C2-41CB-AC29-654F3612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242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Technical excellence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21E2B7-0275-46F5-979F-BFA57D5D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242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20%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C715C6-148B-4E5F-B2E7-96C12C29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DD0C40-D163-4D2A-8AD4-981368E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59664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F24173-A0F4-41A0-B07C-FFE79C6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calibrated model + reproducible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F7F236-A072-4E10-B11E-08B54379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E47424-B7D0-4CCF-8B96-E5ECB26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14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15%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D2E678-C034-4602-A42E-85E4F44A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7197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2722A0-D926-428C-A08F-661A6324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71975"/>
            <a:ext cx="26974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EE9283-A33D-4C81-B04F-8958DF49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767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edge-first contracts + container path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47BC1C-20E6-44DD-81A7-E19C7317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0535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User experience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553AB6-7FC4-41B5-BF2B-9690894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053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15%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CCF475-7CE6-4F3C-BF28-02676692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2525"/>
            <a:ext cx="449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1BF305-9589-4A9E-A6D5-5ABE3C2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62525"/>
            <a:ext cx="26974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E965ED-AD6A-491F-893C-DE36E3D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673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five coherent operator workspaces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2EC18A-3FE5-43D2-B132-FB3393D3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7CF34B-D6E9-47DF-B53D-41D3DCB8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004E34-BC1E-4509-B0CD-009CB2D0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Source: ET AI Hackathon 2026 organiser brief · PS1 and judging weights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AC061F-F259-4EE5-9297-42B6EA9B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4097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CB257B-CEB8-4D43-81E0-588FF455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71F78-D6DD-4530-95B6-71B325C3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SIGNATURE REPLAY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BFCEC-AAEC-4ECE-976D-C15CF53A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warning arrives while every device still says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D378-4750-4F10-87F2-055C92EA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Authoritative deterministic replay · compound_hot_work · seed 24001 · all values simulated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72EB9-25A5-4AB0-85D6-91DD0028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667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3240B-9A43-44CF-B5E5-9A51A826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17C">
              <a:alpha val="18000"/>
            </a:srgbClr>
          </a:solidFill>
          <a:ln xmlns:a="http://schemas.openxmlformats.org/drawingml/2006/main" w="19050">
            <a:solidFill>
              <a:srgbClr val="71817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7B4EC-D02E-4FE7-808D-5E117D7D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D4357-16B4-4A55-B654-48C94491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T+08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5BCCE-DCB0-4E16-BC67-84B6F272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Barrier impaired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43B4B-0092-4190-884D-73E806BB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670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EF-04 isolated; devices clear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6F86A-2014-4727-AA86-C2683504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24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+1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92D7C-B0D3-4C7F-A2FD-8912F2A1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>
              <a:alpha val="18000"/>
            </a:srgbClr>
          </a:solidFill>
          <a:ln xmlns:a="http://schemas.openxmlformats.org/drawingml/2006/main" w="19050">
            <a:solidFill>
              <a:srgbClr val="F1D0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A0524-E8CD-4717-80C9-F6703B87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AA775-BCE2-46B1-B1ED-4AB625B6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0383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T+09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1FE35-6167-4ACC-8861-87325558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00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Initial advisory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61557-16C9-496A-BD40-1FE1CA70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670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Risk 30 · 13 min to onset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0F7499-4F96-48DA-B46D-E0504F61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24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+9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36376-AD28-46B3-9ED9-926D8B36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8000"/>
            </a:srgbClr>
          </a:solidFill>
          <a:ln xmlns:a="http://schemas.openxmlformats.org/drawingml/2006/main" w="19050">
            <a:solidFill>
              <a:srgbClr val="FF62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2B9D6-2112-44FD-8B71-480D6EAB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D84F9-3723-4F55-A684-6B04AD5C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T+18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A7AA4-0C2C-429D-A66F-921363D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0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Compound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79404-B51C-42F5-92E5-CA8190B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670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Risk 100 · 4 workers · hot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4771C-C6FD-4DE9-B527-C6618A25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+4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95E3A-6B3E-4F91-B5BF-F81AA8B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8000"/>
            </a:srgbClr>
          </a:solidFill>
          <a:ln xmlns:a="http://schemas.openxmlformats.org/drawingml/2006/main" w="19050">
            <a:solidFill>
              <a:srgbClr val="FF62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8F590-F4B5-4B3F-A92A-24FAD5A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A5C1A-E390-4C21-9C2D-A2A69805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3835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T+22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47DD5-257D-46F4-A2C6-FCA7F7D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00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Authored onset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646F43-A06F-48FB-BCF3-8F0A1906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6707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Simulated harmful-state label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6AC3DE-23B5-42CF-AD8B-13C60C0A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259FB9-E79C-4ED0-9374-CBE13760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E12616-1C2A-4C95-864A-D0A4CC00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INITIAL LEAD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328FE8-B09D-4949-B8F3-CD8190DD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13 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68FC41-7428-4183-81BC-C7E20526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T+09 → authored T+22 onset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FE3E66-1626-4394-B89C-1A80298F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49D8EC-A9BF-45F5-ACB3-C564995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F6E567-B90F-409B-BF12-50BD9319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481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T+18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D433E0-024A-42A1-89EC-BEEAC0EB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291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100 / 100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4BB476-A78F-4018-B71E-75562F66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910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hot work + 4 in-zone workers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55495-8A81-4F3D-B035-21944CA9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6E709E-E624-4B09-9EB3-9D078D0F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F189A7-2625-4C35-8936-5170B0D7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DEVICE ALARMS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3FC9EB-9F19-4FD9-BEB4-ED7A313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291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F64E13-6704-490D-BA27-CF52584D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910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across all 48 replay minutes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88FDB1-E089-4773-AC42-C1D0DFF5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274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91F3D5-DA9A-4DF0-A63E-56799D8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338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E655C1-1A4B-41D1-95CF-5ECA405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48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RISK ENGINE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20742E-A7A5-4DD7-9952-ADEF240C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NO LLM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258672-F52C-4F42-A516-20ECEBC7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910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calibrated gradient boosting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2B2F44-364F-406F-BFC7-5E9DB94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533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4">
              <a:alpha val="8000"/>
            </a:srgbClr>
          </a:solidFill>
          <a:ln xmlns:a="http://schemas.openxmlformats.org/drawingml/2006/main" w="9525">
            <a:solidFill>
              <a:srgbClr val="FF9B54">
                <a:alpha val="24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2FFFF5-2591-4C03-8CD9-0FF90EA8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9115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REPLAY-SPECIFIC RESULT · NOT A FIELD-PERFORMANCE CLAIM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3A2304-D6E0-4ED9-AE0A-F63EC94F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D916FB-E161-478C-A2E5-51AE4A6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79D759-DA80-4BBC-A28F-15C80D6E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Evidence: model-backed API replay · artifacts/compound_zero_model.joblib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654036-21A7-4D65-BEF3-BE96D60A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5028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AF1AEE-4691-455E-93D0-5B9152C9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CC500-CE18-4B4E-919D-FD9CB2F7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PRODUCT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C910E-82D7-4D72-9D2F-62E13934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One safety case. Five operator workspaces.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92035-D89B-4A74-90AB-789F1E81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The interface moves from detection to explanation, correlation, proof and reviewable receipts.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5F300-4657-413C-B4D2-A97AD2A3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5294abcb247a6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859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3CD99-02AA-4C0B-AED9-E7CFEDD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5F">
              <a:alpha val="12000"/>
            </a:srgbClr>
          </a:solidFill>
          <a:ln xmlns:a="http://schemas.openxmlformats.org/drawingml/2006/main" w="9525">
            <a:solidFill>
              <a:srgbClr val="FF625F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0B60F-4AD0-4F23-A404-8DBCFACB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CADDC-65E9-48F0-8374-0E3363B6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Replay twin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2AD3E-0795-469C-8B88-F8A370AA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DETECT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1B051-CC2C-4687-84A9-9D7E4E4C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479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ED185-F914-4D75-BEC3-AE24A22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B4B83-D82D-427B-B1D4-2BA531CF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478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5556aec1c4c6b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0350" y="18859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84345-0484-4DF0-BA06-F47DD75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623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2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C5857-6626-4D8E-8C51-302B7367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62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9FFD8-B58A-4578-B5B3-8B7FFF3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Why now?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EB6E0-4EC4-49ED-B163-1714AE56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95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4F0D2-05CA-4193-B55C-5258738E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479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89ECF-BB13-4CAF-A59A-CB3BCC4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F93BEE-F154-4B25-8B15-F4B7B349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478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3002ae6b947d0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8859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DC165-71F0-4717-8E76-88FBD46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623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B9FF">
              <a:alpha val="12000"/>
            </a:srgbClr>
          </a:solidFill>
          <a:ln xmlns:a="http://schemas.openxmlformats.org/drawingml/2006/main" w="9525">
            <a:solidFill>
              <a:srgbClr val="79B9FF">
                <a:alpha val="3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074A1-CC6B-4F86-8277-AEFC1EB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62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4E851C-1C43-41E4-BA69-2C9F82B0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E56C1-C461-4362-AC7D-23E92C03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95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CORRELATE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EF7044-29AD-414B-91AC-2CCB88A9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479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45560C-02C8-480F-962C-5F6C926E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D8344A-12A6-4A33-A4A3-3C17F6C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478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a32098f084a50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18859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8CFA2-0C47-4BAE-AB52-7780C7BD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623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12000"/>
            </a:srgbClr>
          </a:solidFill>
          <a:ln xmlns:a="http://schemas.openxmlformats.org/drawingml/2006/main" w="9525">
            <a:solidFill>
              <a:srgbClr val="F1D06F">
                <a:alpha val="30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AFF5AB-FEC8-4045-8300-FCB4F063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31F071-28D5-4E75-A3AA-37C7764C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Model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2D7083-41AB-496D-B97E-065D293B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95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PROVE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2A4A84-753B-4FDE-83A0-D88E7EC6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479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76F54-27C0-45C8-B728-4DAB5821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E5FF95-A2DF-4BCD-B350-7E65263F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74baff3f14b5d"/>
          <a:srcRect xmlns:a="http://schemas.openxmlformats.org/drawingml/2006/main" l="0" t="81" r="0" b="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2600" y="1885950"/>
            <a:ext cx="2000250" cy="112395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552637-7F62-415F-8F58-3F5C06E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4">
              <a:alpha val="12000"/>
            </a:srgbClr>
          </a:solidFill>
          <a:ln xmlns:a="http://schemas.openxmlformats.org/drawingml/2006/main" w="9525">
            <a:solidFill>
              <a:srgbClr val="FF9B54">
                <a:alpha val="3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72F7D8-76A4-4E8F-AA20-F932BB5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2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AE2CA7-B8F0-4549-8C0D-D1FF5D5F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Safety case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189090-6916-47AD-89DA-6315BB1B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957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0BCCF1-25E1-46D9-A4F6-DD68CFC6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04900"/>
          </a:xfrm>
          <a:prstGeom xmlns:a="http://schemas.openxmlformats.org/drawingml/2006/main" prst="roundRect">
            <a:avLst>
              <a:gd name="adj" fmla="val 10345"/>
            </a:avLst>
          </a:prstGeom>
          <a:gradFill xmlns:a="http://schemas.openxmlformats.org/drawingml/2006/main">
            <a:gsLst>
              <a:gs pos="0">
                <a:srgbClr val="101B18"/>
              </a:gs>
              <a:gs pos="100000">
                <a:srgbClr val="0E1514"/>
              </a:gs>
            </a:gsLst>
            <a:lin ang="5400000"/>
          </a:gra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3CD89E-71BF-4740-8076-149A0333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MACHINE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8598A5-DB29-4049-AC13-86DECFBA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scores + proposes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1A1FE7-D104-490D-86F6-9241C3C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1417AB-F086-46CE-824A-18DFBE5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053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0550D8-1A7E-40FC-B0B4-F86596DA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62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explains + cites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970C68-38C1-471C-B5BB-E92A5BB7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F05958-28ED-47DC-91AD-2AE72EB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053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AB8979-11CC-4A08-8E04-02B82D5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62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review + authorize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0AFCFC-D42D-4641-B69E-13685375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1257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5F">
              <a:alpha val="10000"/>
            </a:srgbClr>
          </a:solidFill>
          <a:ln xmlns:a="http://schemas.openxmlformats.org/drawingml/2006/main" w="9525">
            <a:solidFill>
              <a:srgbClr val="FF625F">
                <a:alpha val="2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9D6561-833D-47D2-9E34-75846A6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673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ACTUATION NONE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D691A6-E927-4AD8-AFE9-E85FB2C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E657DE-7A94-4C52-BE62-697105D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0768E4-5291-4A37-A98E-95EBF055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All screenshots are captured from the working local prototype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E154BC-5D66-481F-9463-D44483BB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4215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4448B-10CF-4985-9ED3-523933EC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BD9C1-6794-46BD-BD41-B6A24B90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OPERATING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D0F74-E2CF-4EBF-ACCB-DD68D4E4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Dense context, legible in one glance.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7C5F4-F814-4342-93A9-5AFC7E6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T+18 model-backed replay: score 100, four minutes remaining, four pseudonymous workers, zero device alarms.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4AC92-9AFE-4951-BD69-50C487C8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8648700" cy="4895850"/>
          </a:xfrm>
          <a:prstGeom xmlns:a="http://schemas.openxmlformats.org/drawingml/2006/main" prst="roundRect">
            <a:avLst>
              <a:gd name="adj" fmla="val 2335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14cb26f9f4cff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8572500" cy="4819650"/>
          </a:xfrm>
          <a:prstGeom xmlns:a="http://schemas.openxmlformats.org/drawingml/2006/main" prst="roundRect">
            <a:avLst>
              <a:gd name="adj" fmla="val 237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872C5-C59E-4CA2-8731-79A41AD1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21526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71927-25B6-4149-AEF2-24D2D05C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431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2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9671E-498C-4988-A169-1A04EB24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1D44A-CFBF-4714-94D5-2B41A44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240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Simulated spatial layout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1C1F1-79A9-413D-AAAC-6CCAFDE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5742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Risk field, local zones and pseudonymous badges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3A287-F09A-44AF-800E-E2293AA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21526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1726C-9982-42D1-B931-E36BC77A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12000"/>
            </a:srgbClr>
          </a:solidFill>
          <a:ln xmlns:a="http://schemas.openxmlformats.org/drawingml/2006/main" w="9525">
            <a:solidFill>
              <a:srgbClr val="F1D06F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976D3-73C9-4BD4-B75D-D7BCA844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116D0-D1A3-4EF7-8177-9DC9DD92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289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Evidence intersection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E7E45-AB4C-4B10-B610-1C88700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6232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Gas trend + barrier + permit + people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69942-8E84-4EF0-A0AB-0625D05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21526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5B8C6-3DDE-40F1-9014-99CD510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529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5F">
              <a:alpha val="12000"/>
            </a:srgbClr>
          </a:solidFill>
          <a:ln xmlns:a="http://schemas.openxmlformats.org/drawingml/2006/main" w="9525">
            <a:solidFill>
              <a:srgbClr val="FF625F">
                <a:alpha val="3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605B1-A14B-4861-8035-18EF135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529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C5AE3-DA97-4929-AAAB-1E023DBA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338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Calibrated warning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357B2-CD50-4936-85DD-D1E41F8E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6722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Probability, threshold and remaining lead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8AF03-1B2F-46E0-BC53-8D7630F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24450"/>
            <a:ext cx="21526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5FDBC-A2CF-4929-8A65-DB99E611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57800"/>
            <a:ext cx="381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B9FF">
              <a:alpha val="12000"/>
            </a:srgbClr>
          </a:solidFill>
          <a:ln xmlns:a="http://schemas.openxmlformats.org/drawingml/2006/main" w="9525">
            <a:solidFill>
              <a:srgbClr val="79B9FF">
                <a:alpha val="3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60611-2BB7-40BF-A02D-59A27EFE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578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1BF9A-13AA-43CA-80E5-C1822C9C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387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Human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AB839-510D-4C4B-BCC8-C59AC2BC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72125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Compare a bounded dry run before recording 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6F6A3-08A1-4159-91B8-AF9CFA34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5D0C8-9DBC-4B7D-996F-AD37657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2E7CE-9E95-4665-965F-70068B3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SIMULATED · no real plant, worker or device data shown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F97CA8-ED63-44CC-96DD-87FD556C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0013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C218EF-BFDD-47D4-8257-ED22DC6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C1DBA-5FFC-4231-8DE5-A0242A1E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EXPLAINABILITY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21061-9C18-4F52-B9BC-7E9E9B6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alert is evidence—not generated prose.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0BE5B-24BA-46E5-B03F-CE8740C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Typed, timestamped factors connect the weak signals to the fused decision; no language model sits in the risk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3D46A-A7DC-4C71-AF70-A166594D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7077075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35bff5bff461f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71650"/>
            <a:ext cx="7000875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19ABB-9E24-4926-8CC4-59539F58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71650"/>
            <a:ext cx="3676650" cy="3943350"/>
          </a:xfrm>
          <a:prstGeom xmlns:a="http://schemas.openxmlformats.org/drawingml/2006/main" prst="roundRect">
            <a:avLst>
              <a:gd name="adj" fmla="val 310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431FA-F68C-4F7B-BCA7-215B90EC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THE INTERSECTION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3EE8B-03D7-474F-841A-6476A799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>
              <a:alpha val="14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E3004-ACF3-438C-B482-61B8FEF9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E5A55-1E37-49EC-B8FE-42AF708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8D47C-7558-4352-9421-669A6AF5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812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LEL, H₂S, CO, oxygen and pressure trend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7D441-3327-4D91-B630-80209406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9FF">
              <a:alpha val="14000"/>
            </a:srgbClr>
          </a:solidFill>
          <a:ln xmlns:a="http://schemas.openxmlformats.org/drawingml/2006/main" w="9525">
            <a:solidFill>
              <a:srgbClr val="79B9FF">
                <a:alpha val="35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67A2C-14DC-4C15-B8AC-3EAAA30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B9552-F3BF-4621-A2CB-181A956A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Barrier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4CFBD-DEBC-4CBD-B929-1C675C38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480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Extraction fan EF-04 is unavailable under maintenance.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BC524-BD43-4611-B037-C92E1D5C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>
              <a:alpha val="14000"/>
            </a:srgbClr>
          </a:solidFill>
          <a:ln xmlns:a="http://schemas.openxmlformats.org/drawingml/2006/main" w="9525">
            <a:solidFill>
              <a:srgbClr val="F1D06F">
                <a:alpha val="3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C11CA-D4B1-4443-AE95-47EE6FC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840B9-81AE-4962-8ECC-52D8C74F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Ignition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6062B-A3AF-4CC5-A31F-0C95B01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147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PTW-2841 activates hot work in the adjacent gallery.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9C2C5-42D7-4311-A3F1-6ACC336A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4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1EFD58-37E1-488A-B93C-A7553418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62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F0BEB-E571-4FF6-B13D-181F844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43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Exposure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5E5F5-C7EE-4AB2-AD5A-44E982CA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8152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Four pseudonymous badges enter the illustrative field.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45E85-FDCB-48B0-A5D9-ED9AC44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244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0BBF7-5037-4DE7-8083-FBF4997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244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STRUCTURED FACTORS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E7E10-2DAE-48A7-801C-3E873D1A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24450"/>
            <a:ext cx="1562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B9FF">
              <a:alpha val="10000"/>
            </a:srgbClr>
          </a:solidFill>
          <a:ln xmlns:a="http://schemas.openxmlformats.org/drawingml/2006/main" w="9525">
            <a:solidFill>
              <a:srgbClr val="79B9FF">
                <a:alpha val="30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59BB43-123B-4196-9C53-CA32C2D8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244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SOURCE RECEIPTS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84382-DC90-4486-B4B5-25696E6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29250"/>
            <a:ext cx="3105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B54">
              <a:alpha val="8000"/>
            </a:srgbClr>
          </a:solidFill>
          <a:ln xmlns:a="http://schemas.openxmlformats.org/drawingml/2006/main" w="9525">
            <a:solidFill>
              <a:srgbClr val="FF9B54">
                <a:alpha val="2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F985A-8555-4580-9837-4323ED5F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2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NO CAUSAL CLAIM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7D3BE-8F17-402E-AE19-EA7B3AC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DBFD23-6ADC-40D6-965E-D4ECAE44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BD113-801A-4E7F-AD48-7A603F8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Explanation factors are deterministic interaction values, not a root-cause verdict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78F44-44E5-44D3-A329-C463534E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86942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363C5-8806-4271-AB00-B6AD0FE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9AF60-D703-4820-92DE-63715553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CROSS-SYSTEM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93B3C-37DA-4DDC-8BA4-CC9AE35F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Four bounded services. One simulated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F6412-F789-42F7-992D-B27E0627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Vision metadata, numeric fusion, cited pattern retrieval and deterministic permit checks converge before a manual-only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7D14B-2BA5-4464-88A9-6F42C618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7648575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fc8af3a414bef"/>
          <a:srcRect xmlns:a="http://schemas.openxmlformats.org/drawingml/2006/main" l="0" t="49" r="0" b="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7572375" cy="4257675"/>
          </a:xfrm>
          <a:prstGeom xmlns:a="http://schemas.openxmlformats.org/drawingml/2006/main" prst="roundRect">
            <a:avLst>
              <a:gd name="adj" fmla="val 268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51CC3-DACE-416B-A64F-61A77F13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71650"/>
            <a:ext cx="3086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85409-0FED-4608-B23D-FBF393A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716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E3477-4CF0-4E06-BE28-FDCE94A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954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METADATA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4B53F-77E7-499F-9E1B-C5CAFD62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No raw frames or biometrics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38AB0-7C13-4981-B4A4-5CF0F97C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3086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5C50A-B2E0-44AB-8427-C297B91D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7BA66-653F-47BB-8D2C-B23E71EB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717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NUMERIC 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16E5B-4D61-4B53-816E-A12D63A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Calibrated model; no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10D05-35E0-438B-831D-82365BA0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86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A40EA-5A4C-4C47-A043-663939AE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A4A79-A0C2-46BA-9934-159955B2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LOCAL BM25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383B1F-6BFC-403B-A2B4-88B036F3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Project-authored summaries + 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F4B75-558D-45D8-B44F-D2E5EF44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861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991D2-2E5B-4D17-974C-387E1154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9DEE6-D653-42FE-B688-FD788C05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243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PERMIT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F811C1-1724-4B6C-A949-5C94EA92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Evidence gaps stay visible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9EF84-ECB4-4C49-B734-D2C53C2B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53050"/>
            <a:ext cx="30861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625F">
              <a:alpha val="6000"/>
            </a:srgbClr>
          </a:solidFill>
          <a:ln xmlns:a="http://schemas.openxmlformats.org/drawingml/2006/main" w="9525">
            <a:solidFill>
              <a:srgbClr val="FF625F">
                <a:alpha val="28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C3D97-417B-48CE-A772-852CA600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4673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REFERENCE MAPPING ≠ COMPLIANCE DETERMINATION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5A67B-AE83-46FB-8A7A-31D0BA89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B1244C-07E8-43C9-8E85-D7FF4DC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699C40-FEF4-4BC6-AE44-2086F83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OISD catalogue metadata and public legislation links; licensed normative text not bundled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9F06D-DEDA-4DE8-AAC1-4355A417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65557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B18099-0E58-4C63-9FFE-58FC492F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D8E42-F3FA-469F-AC99-326C5CF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HUMAN AUTHORITY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5E014-86EC-4B86-AA2B-6FE251D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system can recommend. It cannot actuate.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3D052-74A8-45F7-A1E7-B7A32408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Two complementary gates: operator-recorded counterfactual dry runs and a three-role manual response authorization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A0A77-65A0-4345-8868-8EC9694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aba35de4e43a0"/>
          <a:srcRect xmlns:a="http://schemas.openxmlformats.org/drawingml/2006/main" l="0" t="113" r="0" b="1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4953000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05B24-025D-4C9A-8AEE-73952F6F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752600"/>
            <a:ext cx="5753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e97c30c4d4def"/>
          <a:srcRect xmlns:a="http://schemas.openxmlformats.org/drawingml/2006/main" l="0" t="65" r="0" b="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790700"/>
            <a:ext cx="5676900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CDEE0-7B00-4BD2-BF54-8E5E369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10000"/>
            </a:srgbClr>
          </a:solidFill>
          <a:ln xmlns:a="http://schemas.openxmlformats.org/drawingml/2006/main" w="9525">
            <a:solidFill>
              <a:srgbClr val="F1D06F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AF491-AA03-4469-AFC1-ECE83024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NON-CAUSAL 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3B9AC-17C9-4599-BFB5-3EF4B5C9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100 → 71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D7F6F-7899-4566-B1BC-2A2CB574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11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Hold PTW-2841 · no field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C1A11-D7A0-4179-82EC-239AE66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91125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F84DF-256D-40CC-A5BE-22E9843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9112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AREA AUTHORITY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F251C-7740-4D3E-9FA3-925DCEDC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91125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899F7-AF5A-4716-ACFD-477EA06E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9112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SAFETY OFFICER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D73F3-EAB0-4E0D-B023-9453153A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91125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946F2-017F-463D-A303-24326C44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9112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INCIDENT COMMANDER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88A5C-1AAA-40A1-B120-C1AC6970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619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MANUAL EXECUTION AUTHORIZED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01DE2-05E0-4915-8866-60877589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81650"/>
            <a:ext cx="1638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5F">
              <a:alpha val="10000"/>
            </a:srgbClr>
          </a:solidFill>
          <a:ln xmlns:a="http://schemas.openxmlformats.org/drawingml/2006/main" w="9525">
            <a:solidFill>
              <a:srgbClr val="FF625F">
                <a:alpha val="28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37697-A5AB-4AA6-BF73-DC558823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816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ACTUATION: NONE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4A458-B6C6-4DEC-A676-B1177CEA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72073-8E8F-44AF-857E-42E465CE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CDE0F-C626-4452-864C-2F2A010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Response records use simulated roles; production requires plant IAM and durable workflow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EC8D4-5893-497B-983C-FF58597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0705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7268FD-0916-4E1A-BA73-CA7D776E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3B0D8-CEB2-44BE-BDE4-891E5C70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REPRODUCIBLE MODEL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B12DF-BBE0-4821-84C7-83A14D4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ablation is the product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D06E8-7640-4E1D-920A-950F98CC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Whole-seed holdout · separate calibration · 5,616 test rows · 65 positive event groups · zero split overlap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65F15-4536-4D6C-8189-EACB426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56D07-3975-4EC4-ABDD-3A7433B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9BE8E-7EC1-4E70-AC01-16B5D84E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DEVICE EVENT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1D248-3043-4F3A-9318-F1DB179B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13 / 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B84AC-8D70-41D0-94DB-780E73B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20% · event FNR 80%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54FA4-6F0D-44B5-8E87-05ECA74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409DB-A6D5-4A15-AB0A-99D757A5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924D2-BF24-4CC6-963A-F591CD94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FULL-FUSION 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F68D4-58F5-45DC-83D6-5B64AD53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65 / 65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6D6AF-D5EB-4A1A-885A-0F0D7920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145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100% on simulated event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ADBBF-04DD-4318-A037-9AF1E82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586A6-7878-4F37-917E-A16B4C37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70E9D-DD9D-439E-B3E0-8305ADD4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MEDIAN WARNING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31CC0-7A2A-404F-8F27-961DBDD8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12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FDE3A-CBF2-47D2-9CC1-83620B3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held-out positive 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4EE18-FE71-4351-8D51-68ED6CBF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74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1E918-B92F-4688-8E7B-3DBD024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799F6-9008-4C78-8CCE-46167B57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ROW AUPRC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C4D92-F7A7-4C82-BD76-E1F457AE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0.997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45630-D198-46C8-8D1F-C41C13BA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14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not rounded to 1.00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5B45F-AB8C-4209-8D1B-506B6BD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0675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BD63C-B8F0-4947-BBDB-7D2874BA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FALSE-ALARM EPISODES / SIMULATED 24H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EB7FD-2EF2-42A1-8C31-0D783C3E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Process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DD780-EBBF-419C-B048-8A5AA835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8.65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CC515-6F52-4EBC-A22D-B8CB7A0D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0188B-28E8-45B7-8DD3-E43E0F2B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5781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AE8475-B5A9-4B89-B26A-32EE5891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Full fusion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BA93D8-6F96-4DCF-925F-3E96D65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1.15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6C7D18-DD96-45AC-BF26-0B79CFAF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619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87A665-5A6C-485B-80F9-6AEACD46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714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80036E-7EE7-4147-AE4B-7CB5F143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86.7% fewer episodes while preserving event recall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78E7C-4E6E-48CD-B95F-C66FC066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Context removes nuisance escalation that process-only detection cannot distinguish.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93F4E5-F1E8-4ED2-8F65-B3B3643A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6004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58CAEC-80E3-4FB4-B06F-25E9C659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9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DEVICE COMPARISON, SPLIT HONESTLY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59AFDC-65FA-42B2-AE10-0D311929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718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28DE9F-A1A5-42F0-9077-231C0992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718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groups had a device alarm by onset; fusion warned earlier in all 13.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FAC6E8-10BE-42ED-8EA9-6045E003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0527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52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CB9E4-601C-47CE-BA0A-2701A4D6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groups had no device alarm by onset; fusion detected all 52.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F167E8-85E1-424F-81FE-941BB025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3067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25F">
              <a:alpha val="8000"/>
            </a:srgbClr>
          </a:solidFill>
          <a:ln xmlns:a="http://schemas.openxmlformats.org/drawingml/2006/main" w="9525">
            <a:solidFill>
              <a:srgbClr val="FF625F">
                <a:alpha val="22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45E4C9-53C4-4997-AA61-4EB72711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SIMULATED · NOT FIELD VALIDATION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FC66A6-438C-4A85-817C-9A9D63DD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4F8D0F-DBF8-4A52-967A-62DE837C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55CBF9-2B2D-4889-B48F-3E29B38B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Source: artifacts/metrics.json · model compound-zero-scenariobench-v1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43F284-E2A9-4A97-AB7F-B06A1F9F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48540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57BF37-2871-4B82-B8C9-261A862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1828F-B134-406F-9C6B-D65852C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ROBUSTNESS / HONEST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8FF34-CB28-4C10-8498-12FA5333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The failure we found changes the pilot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31554-68EB-4B63-A3B1-328B092C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True leave-one-scenario-type-out evaluation · every scored row came from a scenario family absent from that fold's training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1BA3D-A587-4AF9-BBB4-03A05983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FD60B-8F85-417C-A4A5-0674392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A8FA9-6032-4265-9FBE-5DE4F088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BASE HOLDOUT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5A44D-224C-4A4A-98EC-243C7A41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8D4EA-5C8B-41FC-A986-AE81D464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65 / 65 simulated event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F53BE-937D-4995-A0C6-E81F63E5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76CAC-785A-4234-B847-2BCCED2C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6185B-D923-4A9F-90B7-DD71526B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71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POOLED TRUE LOSO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F28B6-1953-401F-93E1-48F93748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52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80%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264A2-CDFC-448C-AE04-56C58F2F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145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256 / 320 event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DB2E7-E68B-4829-8522-2713D64F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2571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B6A82-7E0C-4835-A25F-4CBF34FA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F214F-1613-4B18-A32B-322FD50C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71650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WORST HELD-OUT FAMILY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B0FD8-8B12-4048-9313-777A053C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BEAF9-AB1B-42FC-9232-4BD51229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2305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process_drift · diagnostic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36F8C-84F9-438C-B80A-620F50F4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743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2032A-39AF-4780-96BE-8869AC9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64ADF-45D8-4FBB-A03A-805EF7C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MISSING KEY STREAMS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0B258A-FBE7-4476-91D8-3BA17E71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80%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A5D50-4192-49A1-9A23-3FFA24EC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145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process or barrier/shift recall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C3837-6537-45DE-AD2D-24A6F5E4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6667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B54EA-64E5-4A8F-9A0C-2153EEF4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FIVE EVENT-BEARING HELD-OUT FAMILIES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DB8D3-BDD5-4835-B31E-ABDD6F1F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Barrier loss + workers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FB047-8C34-48FC-B491-99B1533D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19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DA905-62C5-4990-93F6-277AEF7D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3B884-7507-44BB-AB4E-E5A4F464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45066-EB93-4A25-A059-44C48049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95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Confined space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E513E-FE5C-4D2D-9879-4F489F41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95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485072-1F8A-41FE-A5D5-C9D28BC2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43309-A55F-4B65-986B-A044F36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E39753-938F-4586-87D6-A9761938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Shift handover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F2CD2-E7D0-452F-94EA-83E68264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100%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68C22C-D053-435D-AAC5-87611F97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DE1260-0449-4491-AA1E-66BD041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A6FBFD-1E44-4AE1-9211-E1FACC2D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Hot 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DA108-98B9-4B9D-ABB2-56F086F6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96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100%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EA7B85-B110-4351-9931-77357AED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E62145-D362-4A32-82A5-7A822C03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78E390-F57B-42DC-8F59-B93690CD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Process drift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6957B0-03FE-4792-AF4B-827C673B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196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890410-DAFD-4951-8F11-3DC6EA4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C3BCAA-75B7-475F-947A-E21B2DDA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38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C69A49F-EC88-4498-B84C-3DABEB5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4000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625F">
              <a:alpha val="5000"/>
            </a:srgbClr>
          </a:solidFill>
          <a:ln xmlns:a="http://schemas.openxmlformats.org/drawingml/2006/main" w="9525">
            <a:solidFill>
              <a:srgbClr val="FF625F">
                <a:alpha val="2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603858-933A-451A-886B-BF845D3F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WHAT THIS MEANS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46F922-41EB-4CA8-9389-E3B8F1EF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Do not deploy on the headline holdout result.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B02873-3935-4225-AD31-6E3C1699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671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4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B4FB66-3940-4785-B326-0E02BA2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671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5EB27A-503F-4920-B48F-2C0D090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48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Expand failure coverage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8FF8BA-6DB1-4BEC-948B-F02D64D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Add site-specific slow-drift and near-boundary cases.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10B82A8-3315-45A4-8B62-C647ADB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>
              <a:alpha val="14000"/>
            </a:srgbClr>
          </a:solidFill>
          <a:ln xmlns:a="http://schemas.openxmlformats.org/drawingml/2006/main" w="9525">
            <a:solidFill>
              <a:srgbClr val="F1D06F">
                <a:alpha val="3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7DCE09-710A-4B3B-B491-1E399C5D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14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92DC56-B85D-4DC5-B4CC-053D0C91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Tune degraded-mode policy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4AB8BD-ADFB-41D0-AE44-99193E54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Noise preserves recall but can multiply review load.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5CB86B-C6B6-471B-9CBB-92FF3041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3333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8E7757-5768-4AB0-9B42-EDCAA275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81625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FIELD GATE: PROSPECTIVE SHADOW MODE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A82808-D266-4E6D-9D02-B9B684D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E8E437-7531-4A15-A6A3-C26734C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378BE5-1F58-4086-858F-693B163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Source: artifacts/robustness_metrics.json · authored simulated data only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432144-C175-4FB4-B164-BA1F8353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34388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B79068-7110-4D69-9367-41691122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17D55-598D-4AC7-B4EB-C6318499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GEOSPATIAL EVIDENCE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55C68-B3DC-47AB-A175-85F1E6A5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Uncertainty becomes review—not false reassurance.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E9312-9AF5-4943-A14D-1F2E586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GeoEvidenceBench · fictional plant-local Cartesian metres · boundary-heavy deterministic software-conformance fixtures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84E63-AA08-4DEF-A6BC-804E35C0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7150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7D86F-FBE1-40B5-8E6D-A40723F9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BOUNDARY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591AF-C4EF-4660-BE9F-027511C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3714750" cy="22098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79B9FF">
              <a:alpha val="5000"/>
            </a:srgbClr>
          </a:solidFill>
          <a:ln xmlns:a="http://schemas.openxmlformats.org/drawingml/2006/main" w="9525">
            <a:solidFill>
              <a:srgbClr val="79B9FF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21F69-62E5-4D82-87E7-DDD9910C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ZONE-C7 · LOCAL PLAN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FF651-20B7-4965-9EC6-AA055D9A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EA99E-81C6-47C1-B549-6725DF4C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B54">
                <a:alpha val="6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7DE34-3EE4-4AD8-A5DA-1AB8CF6A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33700"/>
            <a:ext cx="93345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54">
              <a:alpha val="8000"/>
            </a:srgbClr>
          </a:solidFill>
          <a:ln xmlns:a="http://schemas.openxmlformats.org/drawingml/2006/main" w="9525">
            <a:solidFill>
              <a:srgbClr val="FF9B54">
                <a:alpha val="2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7F1EA-41CD-4A91-A502-A1C4A11B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09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22D5FD-C3EF-4F6A-8854-08D863F0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051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722C7-3274-4764-A01C-47D965C0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8E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8E9C2"/>
                </a:solidFill>
                <a:latin typeface="Aptos"/>
                <a:ea typeface="Aptos"/>
                <a:cs typeface="Aptos"/>
              </a:rPr>
              <a:t>observed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1B55C-D407-459B-BA0D-31177F41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declared localization bound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AB891-776C-4E5C-B12C-420E9E92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528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authored hazard + review radius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D6561-160E-4543-860A-CDE67EA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72050"/>
            <a:ext cx="3695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10000"/>
            </a:srgbClr>
          </a:solidFill>
          <a:ln xmlns:a="http://schemas.openxmlformats.org/drawingml/2006/main" w="9525">
            <a:solidFill>
              <a:srgbClr val="F1D06F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32E82-F438-4DD0-AB16-9B5426A9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POSSIBLE → 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8E5F3-3C81-4499-B887-71E805E9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2324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E4BAB-2F26-4B64-B0FD-A185F46D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79492-308C-4BA5-8EF1-E7C18136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AUTHORED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16AF0-CDF2-4552-9194-FEDFC22B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288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337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829F7-3783-4423-84A6-4B54648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907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141 positive · 196 negative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BE3C8-293A-42C0-BB9C-B5DB71B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33550"/>
            <a:ext cx="2324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E26107-73CE-4ED1-8A5F-0B1B4C97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3355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D18A1-E4C3-49A5-B103-26092178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478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BOUNDED REVIEW FNR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277F5-F28D-4110-8A74-75440A32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2882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EA455-7677-4EB6-9426-75AA4099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907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point-only baseline: 18.4%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0129CF-5C74-4BE3-A93E-C8F68742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2324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94600-DD92-49A4-AC43-FE6909C0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91F47-9BBD-4671-9378-9E418400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CERTAIN PRECISION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38F6F-608A-4E94-837F-D0AAC61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146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7D8EC-3A57-4718-A7FA-24378C4B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766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45 certain-exposure cases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AADFE9-292B-4A2D-93B8-E2114382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23241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B81713-18DA-4F26-B447-B778592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62B930-0C8E-4FB1-92EE-E045ADB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DISTANCE MAE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8659F-8124-4EC3-87AF-DE733FD7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14675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0.907 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78C794-1881-4ABC-9944-0545EA16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7662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P95 absolute error: 2.255 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D48155-C655-4A10-90D0-53A25FA3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9149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9B54">
              <a:alpha val="5000"/>
            </a:srgbClr>
          </a:solidFill>
          <a:ln xmlns:a="http://schemas.openxmlformats.org/drawingml/2006/main" w="9525">
            <a:solidFill>
              <a:srgbClr val="FF9B54">
                <a:alpha val="24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2FFCC-C722-4416-90C2-19468B9B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THE COST OF SAFETY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F1E7D9-177F-4499-8A3B-A67AA59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434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Review FPR rises 16.8% → 45.4%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42AECC-E1BB-4110-BFED-570CE56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530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That is deliberate review load on a boundary-heavy stress set—not extra physical alarms and not representative plant prevalence.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F9537C-DD3C-46B7-BCDB-DA87031F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560A86-04AF-45FA-92B8-DF9DE287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96544D-2FB6-409F-93AC-C488BE2A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Source: artifacts/geospatial_metrics.json · no surveyed coordinates or plume physics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6DAA41-7754-4FB0-8984-518DBA6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54612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912678-076E-418F-A863-207EC444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29DB6-A5A8-4F5E-8182-D21E8FA4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BUSINESS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DBD82-7321-4DF2-BB20-543CDB05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A pilot can earn its case without pricing a human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85E49-1796-4BCB-A73B-5ADEB3DD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Editable workflow sensitivity only · INR · no incident-frequency or prevented-harm 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5CE41-F5A6-4290-9AAD-7BE9A2CF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A9CB8-BEB6-4C8B-9A79-321CD3FC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LOW / AUTHORED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24761-4FB2-4AE2-A6C0-71B192A9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84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₹0.38L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63544-3E66-45DE-BD1F-9FA83546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annual quantified benefit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675B7-80D9-4678-95C7-FEE0F673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17C"/>
                </a:solidFill>
                <a:latin typeface="Aptos"/>
                <a:ea typeface="Aptos"/>
                <a:cs typeface="Aptos"/>
              </a:rPr>
              <a:t>No payback · 0.07 BCR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8C3BB-0FB8-4538-A332-F319A354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335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78E9C2">
              <a:alpha val="7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D74C2-16B9-44D9-9A41-DEBD8A5F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05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BASE / AUTHORED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0BDF1-8E4B-493A-8278-02DA54F0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38375"/>
            <a:ext cx="184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₹9.74L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3A102-601F-438D-9E29-35F47493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79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annual quantified benefit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4FF8C-1F02-4F8F-A157-590889A4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527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E9C2"/>
                </a:solidFill>
                <a:latin typeface="Aptos"/>
                <a:ea typeface="Aptos"/>
                <a:cs typeface="Aptos"/>
              </a:rPr>
              <a:t>25.2 months · 1.19 BCR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17913-A5ED-4E63-847D-9BE3DB2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33550"/>
            <a:ext cx="2190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E410-D092-4436-B596-384325C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HIGH / AUTHORED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8CA54-A032-4C7B-B09C-901F4377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1847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₹39.75L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6EA33-BEE0-482E-AE68-86F606F4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annual quantified benefit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CDFC5-4814-48A4-B0E2-1FEE7B6C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0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1D06F"/>
                </a:solidFill>
                <a:latin typeface="Aptos"/>
                <a:ea typeface="Aptos"/>
                <a:cs typeface="Aptos"/>
              </a:rPr>
              <a:t>6.6 months · 3.06 BCR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19C68-DBDF-4708-9CD4-5502AFCF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4861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625F">
              <a:alpha val="5000"/>
            </a:srgbClr>
          </a:solidFill>
          <a:ln xmlns:a="http://schemas.openxmlformats.org/drawingml/2006/main" w="9525">
            <a:solidFill>
              <a:srgbClr val="FF625F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3A59E-74AA-4A78-B4D8-E2F071B1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ETHICAL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19D64-4CCD-449C-B614-B835FF2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383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₹0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DD2077-632F-48A4-A99B-1929B77B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01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assigned to death, injury or a prevented incident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41842-F50A-4F1D-BDF8-BC922F7B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Only workflow capacity and administrative nuisance-hold exposure are modeled.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F88AB2-0E93-444B-88B4-51C33FD9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B593D-0473-4750-A5FD-30C217D6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BASE CASE · EDITABLE ASSUMPTIONS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104256-87AF-484C-B0E3-093A00A8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Permit reconciliation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C035BC-A52A-4F15-9040-FC98AFE5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433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₹4.02L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A73C9-4EC7-4816-A2B7-4C6B6E6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751020-F5EB-49C8-9B9D-D6F28895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612076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07433-E2C5-4825-8D6E-CF625703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Alert triage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EC971-6847-4FD7-9501-7629580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38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₹2.68L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8FE18E-45AB-455A-868F-04EF65B3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912FF7-531B-4BBC-B6FE-7635F623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08051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649A4-8AF3-4BD4-BFF5-58C2686D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Investigations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3281DC-46F2-4EF3-A386-439688EC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339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₹1.15L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45F6D-492E-41C7-BCE2-0FAE99F4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41C0A4-9D4D-44AB-8A5D-BA9E7A96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174879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F95743-2394-4821-8BB9-4A3BA16F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False-alarm deep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59A5EF-A009-4F66-AEE1-E2B2EDD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29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₹1.15L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5D4DA9-2857-40F5-B000-E05FA873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59F625-E7B3-48AE-B773-81226EDD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74879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5218B2-95CF-442E-A06C-581B5A89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Nuisance hold exposure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5BE9B1-6350-4342-AFA9-06D7191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244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₹0.75L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F5BC36-2724-49E8-8319-6B89FBA2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685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6C7DD4-CB2D-4DA2-8F11-FAA3F4A9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0D9674-5E14-4321-AA8C-202792A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900 shifts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125AEC-F65A-495E-B16C-8A81B9A8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291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3,600 alerts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5B7686-4B94-47EE-801D-AAB0868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5,400 permits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777D6B-FAC5-47B2-A09A-E432DA38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339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EEF5F2"/>
                </a:solidFill>
                <a:latin typeface="Aptos Mono"/>
                <a:ea typeface="Aptos Mono"/>
                <a:cs typeface="Aptos Mono"/>
              </a:rPr>
              <a:t>75% adoption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48F1A4-8462-4703-9CE2-BFF4FED9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0050"/>
            <a:ext cx="142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ILLUSTRATIVE / SIMULATED · NOT A FORECAST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80EE2F-D3FA-4CD1-86C6-1BBBED1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C7412C-6551-461A-967D-D0FF681B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A1BDCE-B12D-49FF-835C-28E6AC7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Source: artifacts/pilot_economics.json · all assumptions editable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AEE391-FC38-4CEE-B518-155504F8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189952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A6B113-E737-4935-A47A-62C0128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78155-1266-46F7-948F-0C4F9FCD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ARCHITECTURE &amp;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F52B7-8AD4-4118-B269-7166E6F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Site-local inference. Normalized contracts. Independent safety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595D4-E149-4E98-8E6B-8AE999F9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A deployable edge pattern today; field readiness still requires authorized connectors, calibration and safety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FF21A-86EB-4577-B241-35092C12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79B9FF">
                <a:alpha val="3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A7854-71D9-4AF2-9E90-43C73291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A6621-E914-47C4-B4C1-6279449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READ-ONLY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98CD1-13C7-4921-8201-48EA73CE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SCADA · PTW · CMMS · badge/CCTV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72B8E2-2F12-4F1E-B408-30173D55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95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85C24-E6A8-48AA-9CFF-786A837C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156D4-184F-4089-BD85-A31D101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1809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2520A-2FA1-4EDE-8A88-0C14BD0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8120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46DB4-0B8A-4F55-AE13-8BE0254E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NORMALIZER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F1252-81DF-4B2E-B109-03785B2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1460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schema · freshness · quality · event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F1FD1-5912-4B56-9B50-40DA8C0C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95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56D99-851E-4B0B-A7CE-12BC51B7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FC4B2-C722-4DB4-B967-E8A6462E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81200"/>
            <a:ext cx="2000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F1D06F">
                <a:alpha val="3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5EA7D-466A-4DB3-8739-D4BF7498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812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05700-E95B-4215-B0C1-070CF11C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RISK 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417B7-86B5-4FEF-B4EA-14A9AC1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46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features · calibrated model · abstention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181BE-86A8-473F-957A-3B82159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95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05AAB2-6EAC-4209-BF46-E73BE6E7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47AFD-77D8-4EEB-B502-157C1522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2000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FF9B54">
                <a:alpha val="35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071C2-F978-4E88-8FDA-9F401F1B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F7DCE-93BD-4BE6-8AEA-B0F8E1A3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9B54"/>
                </a:solidFill>
                <a:latin typeface="Aptos Mono"/>
                <a:ea typeface="Aptos Mono"/>
                <a:cs typeface="Aptos Mono"/>
              </a:rPr>
              <a:t>SAFETY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53A3A9-7F1D-4E80-9286-97304D44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score · explain · audit ·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62844-4CDE-40A4-9053-1BB377B6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955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00615-8045-41C8-8758-2D594691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0AF9B-CB85-4E2C-9322-0A744FF1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23622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853C7-2C30-49B4-B503-5A019A57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81200"/>
            <a:ext cx="236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2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5C0DB-4071-4251-AC01-09BF342D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OPERATOR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67875B-6C8F-4F88-A417-BE053760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146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five workspaces · human authority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C6267D-3908-4CAA-BFE4-E56F5CAD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8961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3068F5-BBD1-41AA-A251-E773C374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90-DAY PILOT GATE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5232C-13E4-40C8-95AC-8AD61EE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B9FF">
              <a:alpha val="10000"/>
            </a:srgbClr>
          </a:solidFill>
          <a:ln xmlns:a="http://schemas.openxmlformats.org/drawingml/2006/main" w="9525">
            <a:solidFill>
              <a:srgbClr val="79B9FF">
                <a:alpha val="3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90C6D-1B2C-40D9-9481-6E0F8397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DAYS 0–30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1B5B04-E564-4AA4-9AF4-C91BCE02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Connect read-only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D54BD-BF29-4F9C-8B46-493C4F8E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Data, cyber, privacy and hazard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7B9FF6-AC97-472C-8DB2-15EF641B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94335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10000"/>
            </a:srgbClr>
          </a:solidFill>
          <a:ln xmlns:a="http://schemas.openxmlformats.org/drawingml/2006/main" w="9525">
            <a:solidFill>
              <a:srgbClr val="F1D06F">
                <a:alpha val="30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87BE90-31E5-4A31-AC1C-F2AA4E6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DAYS 31–60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728812-58B8-4A7C-99DC-7C71A874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343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Calibrate locally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89F87B-D412-42DB-AB87-5154F3F6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48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Time-split backtests + tabletop exercises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A2EACF-FCC3-4603-8F58-D5EC67B5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1028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9A75B1-79E8-4F38-AA70-4BED85F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433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DAYS 61–90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73FE31-7C95-41B0-85FE-AB7F0875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43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Shadow 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0199A6-8A5F-4813-AB74-90B0C838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48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Prospective comparison; no control writes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A639CB-38E1-4616-9910-D63A133F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7719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78E9C2">
              <a:alpha val="4000"/>
            </a:srgbClr>
          </a:solidFill>
          <a:ln xmlns:a="http://schemas.openxmlformats.org/drawingml/2006/main" w="9525">
            <a:solidFill>
              <a:srgbClr val="78E9C2">
                <a:alpha val="24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1FC9F9-1089-460D-A1D9-0B623873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62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DEPLOYMENT PROOF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DCF739-00C2-449C-89F7-4CDB13C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>
              <a:alpha val="14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6F82F0-54C6-4BE5-9D9C-EB2B8FF3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D996F6-86B1-4D67-8D59-11C3533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243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Containerized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3EA588-18E5-4270-8804-35E28364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FastAPI + static web + same-origin proxy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FF61BD-581B-470E-A7B0-EA419E1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B9FF">
              <a:alpha val="14000"/>
            </a:srgbClr>
          </a:solidFill>
          <a:ln xmlns:a="http://schemas.openxmlformats.org/drawingml/2006/main" w="9525">
            <a:solidFill>
              <a:srgbClr val="79B9FF">
                <a:alpha val="3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46CDD7-0FB2-4789-9ADA-4D8BB65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9B9F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9B9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05F97A-41D5-49EF-A534-F945B41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148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Hardened demo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181623-1717-42AD-81FF-F216FD6C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5297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non-root · read-only FS · health gates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DEA29E-D7B2-4656-A066-37A191E8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D06F">
              <a:alpha val="14000"/>
            </a:srgbClr>
          </a:solidFill>
          <a:ln xmlns:a="http://schemas.openxmlformats.org/drawingml/2006/main" w="9525">
            <a:solidFill>
              <a:srgbClr val="F1D06F">
                <a:alpha val="3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7CDC15-D89C-436D-B399-E40542F8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01CF4D-99C9-40DC-9E41-1BF2F74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0540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Reproducible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015A9D-D5F5-42C2-8518-574A0A03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43525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pinned workflows + generated artifacts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7D474D-843E-4744-BD2E-3267B16B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170B94-1187-4F8D-B4FF-756AD756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9CF07B-0F00-4241-A9C5-97ED8364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Physical alarms and SIS remain independent of Compound Zero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EABC1D-62B2-4F67-AF27-6F38DC62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23449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6E51FB-B830-4A55-ABAD-D6546B27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90C40-80F3-4DF7-9AD3-0513A28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RESPONSIBLE SAFETY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08D14-264A-4F15-B86F-0B5792AC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Truthfulness is part of the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5D015-F28F-47D0-A294-8E19F5EF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The prototype is designed to fail visibly, preserve human authority and keep every headline claim reproducible.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615E9-1A92-4384-8989-9D86D7FD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2C146-8DB6-4A85-A15B-15C3B84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IMPLEMENTED SAFETY BOUNDARIES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A27C5-CCF4-4780-8EE0-CE04CC01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>
              <a:alpha val="14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CAA66-3E36-433A-908B-5BA9F7E2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AF40A-0DC8-40B2-9460-8E40F9FE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Verified model bytes before deserialization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8D53E-9076-471C-9EF2-214C320F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1937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Model card stores SHA-256 + byte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B067F-F0EF-487A-A112-0A735E9E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>
              <a:alpha val="14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A5155-B12F-4E3D-B008-53A011BB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376E9-D3D9-4056-9491-7FEC5F1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Bound permit evidence to permit + 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D8A8B-ED86-4EB3-925F-2F63180C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Gas-test age derived from timestamped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994E7-C426-4D84-AD60-3E6B1643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>
              <a:alpha val="14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7D50C-4E00-4CFE-9CFD-3B0C3C5C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3172B-C417-4FD6-B5C3-8EBBBB13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Bounded ephemeral response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5B4C72-D381-4FFB-A048-CD18D599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TTL + idempotency + manual-only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0D45C-E485-4A5D-BF27-D7B0DCD5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E9C2">
              <a:alpha val="14000"/>
            </a:srgbClr>
          </a:solidFill>
          <a:ln xmlns:a="http://schemas.openxmlformats.org/drawingml/2006/main" w="9525">
            <a:solidFill>
              <a:srgbClr val="78E9C2">
                <a:alpha val="35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052C3-C6D8-4F18-B632-CA59C391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48E9FA-C56F-494F-B70D-9AFB1D54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Explicit simulated/reference labels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036787-1861-4212-B1A2-0930E139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48225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No UI surface claims live plant operation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47817-45C7-4636-A249-94F0E42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486400" cy="3848100"/>
          </a:xfrm>
          <a:prstGeom xmlns:a="http://schemas.openxmlformats.org/drawingml/2006/main" prst="roundRect">
            <a:avLst>
              <a:gd name="adj" fmla="val 2970"/>
            </a:avLst>
          </a:prstGeom>
          <a:solidFill xmlns:a="http://schemas.openxmlformats.org/drawingml/2006/main">
            <a:srgbClr val="0E1514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6CE51-EFE6-403B-B3EF-234F93A8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CLAIMS WE REFUSE TO MAKE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2C122C-11EE-4F53-A4DC-DAE289B6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4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993B2-5E93-4296-83CE-00B80703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A585F-1ED8-4FE1-B698-DEA84A75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No field-validation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E99A2-05E8-422D-AD97-5FC56E7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ScenarioBench and GeoEvidenceBench are authored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4B70DA-B72D-4BA8-9607-04C7A97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4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175F74-F8B5-44F8-B73C-AA3E978E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DE905-18D2-4442-94A5-9209812A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No certification 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0F100-1722-4C93-8363-3739FAB9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623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Reference mappings are navigation aids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79608-F19F-4A7C-B69C-AA80890B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4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DB098D-F730-451D-BDD8-654F0371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3B1BE7-DDC2-4CB6-831F-E22F7BCC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671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No tamper-proof-ledger claim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191F7B-DEB1-4F7E-84AE-454FFC3B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JSON export is unsigned; links are non-cryptographic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68C653-C0E1-42E1-8E7D-E99FA579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25F">
              <a:alpha val="14000"/>
            </a:srgbClr>
          </a:solidFill>
          <a:ln xmlns:a="http://schemas.openxmlformats.org/drawingml/2006/main" w="9525">
            <a:solidFill>
              <a:srgbClr val="FF625F">
                <a:alpha val="35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8DF235-E9E0-46AB-9B5E-344F480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FF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79B0B-7CF1-44FD-B5F1-E97EE92B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01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DC9C5"/>
                </a:solidFill>
                <a:latin typeface="Aptos"/>
                <a:ea typeface="Aptos"/>
                <a:cs typeface="Aptos"/>
              </a:rPr>
              <a:t>No autonomous control path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E7767E-8CAF-4129-B41F-0ECF75D9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482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No actuator client or endpoint exists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438EC9-965C-4616-8DF3-012DABB7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48350"/>
            <a:ext cx="5715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D06F">
              <a:alpha val="9000"/>
            </a:srgbClr>
          </a:solidFill>
          <a:ln xmlns:a="http://schemas.openxmlformats.org/drawingml/2006/main" w="9525">
            <a:solidFill>
              <a:srgbClr val="F1D06F">
                <a:alpha val="26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4CBF14-31AB-4F58-B02C-9D0707E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SAFETY REVIEW BEFORE ANY WORKFLOW WRITE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58A040-1E32-47A8-9C2B-0C5B00A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295E60-6CE3-4ADB-A83B-73312B0E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COMPOUND ZERO  /  SIMULATED PROTOTYPE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4C987E-27D2-435E-BA5D-A3C350F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581775"/>
            <a:ext cx="657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D5D58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D5D58"/>
                </a:solidFill>
                <a:latin typeface="Aptos"/>
                <a:ea typeface="Aptos"/>
                <a:cs typeface="Aptos"/>
              </a:rPr>
              <a:t>See docs/security-safety.md and docs/requirements-traceability.md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BF8A99-D52B-40E9-ABB8-F4600C57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627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859205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8CF37-D00D-4576-A15F-8376E4E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C3C32">
                  <a:alpha val="42000"/>
                </a:srgbClr>
              </a:gs>
              <a:gs pos="55000">
                <a:srgbClr val="080C0C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38E8A-8F57-4A94-BD9B-02545CD8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23950"/>
            <a:ext cx="5543550" cy="3152775"/>
          </a:xfrm>
          <a:prstGeom xmlns:a="http://schemas.openxmlformats.org/drawingml/2006/main" prst="roundRect">
            <a:avLst>
              <a:gd name="adj" fmla="val 3625"/>
            </a:avLst>
          </a:prstGeom>
          <a:solidFill xmlns:a="http://schemas.openxmlformats.org/drawingml/2006/main">
            <a:srgbClr val="111A18"/>
          </a:solidFill>
          <a:ln xmlns:a="http://schemas.openxmlformats.org/drawingml/2006/main" w="9525">
            <a:solidFill>
              <a:srgbClr val="24322E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8a5dd2d3b4943"/>
          <a:srcRect xmlns:a="http://schemas.openxmlformats.org/drawingml/2006/main" l="0" t="9" r="0" b="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162050"/>
            <a:ext cx="5467350" cy="3076575"/>
          </a:xfrm>
          <a:prstGeom xmlns:a="http://schemas.openxmlformats.org/drawingml/2006/main" prst="roundRect">
            <a:avLst>
              <a:gd name="adj" fmla="val 371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57170-16E3-4A54-BCBD-63700BFA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C0C"/>
              </a:gs>
              <a:gs pos="78000">
                <a:srgbClr val="080C0C">
                  <a:alpha val="96000"/>
                </a:srgbClr>
              </a:gs>
              <a:gs pos="100000">
                <a:srgbClr val="080C0C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B4160-6F36-4370-9D5E-1D92E12F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EB3D6-F53D-40F8-9678-4CAC0BE6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THE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098B1-F9B3-463C-81F9-8C2AA4A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5381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Back the missing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90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context 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382F3-78E6-48F9-B010-7BA2913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DC9C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DC9C5"/>
                </a:solidFill>
                <a:latin typeface="Aptos"/>
                <a:ea typeface="Aptos"/>
                <a:cs typeface="Aptos"/>
              </a:rPr>
              <a:t>Compound Zero combines the strongest innovation story, measurable prototype evidence, a credible business pilot and an operator experience judges can see working.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F0A98-0E9F-41EA-9474-CB74B55F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1D06F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F1D06F"/>
                </a:solidFill>
                <a:latin typeface="Aptos Mono"/>
                <a:ea typeface="Aptos Mono"/>
                <a:cs typeface="Aptos Mono"/>
              </a:rPr>
              <a:t>13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465E2-A3C6-4987-A826-28FA8054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initial replay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F4919-DD58-4AFD-B895-9B5D030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86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65 / 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83A40-DAED-47EB-A42A-2A9238C5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767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base-holdout events detected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813E2-CDD9-44E1-87EA-226F2C17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86.7%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A0B76-FE43-43CA-95F5-49CC8CD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fewer process-only false alarms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FF474-3A40-44E9-9A22-2155130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62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2025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150DB-709D-41D0-B899-322487E6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53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1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17C"/>
                </a:solidFill>
                <a:latin typeface="Aptos"/>
                <a:ea typeface="Aptos"/>
                <a:cs typeface="Aptos"/>
              </a:rPr>
              <a:t>working operator workspaces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113D1-B093-4194-9F7C-B80165A3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64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E9C2">
              <a:alpha val="10000"/>
            </a:srgbClr>
          </a:solidFill>
          <a:ln xmlns:a="http://schemas.openxmlformats.org/drawingml/2006/main" w="9525">
            <a:solidFill>
              <a:srgbClr val="78E9C2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0E237-6A77-4AF5-8087-6881391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8E9C2"/>
                </a:solidFill>
                <a:latin typeface="Aptos Mono"/>
                <a:ea typeface="Aptos Mono"/>
                <a:cs typeface="Aptos Mono"/>
              </a:rPr>
              <a:t>github.com/Fyxod/compound-zero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F2E38-A608-4C27-81D3-D4D91871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38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EF5F2"/>
                </a:solidFill>
                <a:latin typeface="Aptos"/>
                <a:ea typeface="Aptos"/>
                <a:cs typeface="Aptos"/>
              </a:rPr>
              <a:t>COMPOUND ZERO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1B449-1BF9-4A3F-BC18-8A8173A6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E9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8E9C2"/>
                </a:solidFill>
                <a:latin typeface="Aptos"/>
                <a:ea typeface="Aptos"/>
                <a:cs typeface="Aptos"/>
              </a:rPr>
              <a:t>See the accident before the alarm.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A0F85-CFE2-4132-A476-05E87E00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143625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D5D58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D5D58"/>
                </a:solidFill>
                <a:latin typeface="Aptos Mono"/>
                <a:ea typeface="Aptos Mono"/>
                <a:cs typeface="Aptos Mono"/>
              </a:rPr>
              <a:t>SIMULATED PROTOTYPE · ET AI HACKATHON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56F8E-973A-48BE-B4EF-DCBDE977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1817C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413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2026-07-22T18:14:55.2590000Z</dcterms:created>
  <dcterms:modified xsi:type="dcterms:W3CDTF">2026-07-22T18:14:55.2590000Z</dcterms:modified>
</coreProperties>
</file>